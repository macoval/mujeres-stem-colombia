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2" r:id="rId4"/>
    <p:sldId id="257" r:id="rId5"/>
    <p:sldId id="261" r:id="rId6"/>
    <p:sldId id="265" r:id="rId7"/>
    <p:sldId id="258" r:id="rId8"/>
    <p:sldId id="260" r:id="rId9"/>
    <p:sldId id="264" r:id="rId10"/>
    <p:sldId id="266" r:id="rId11"/>
    <p:sldId id="25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35" userDrawn="1">
          <p15:clr>
            <a:srgbClr val="A4A3A4"/>
          </p15:clr>
        </p15:guide>
        <p15:guide id="2" pos="23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56" y="102"/>
      </p:cViewPr>
      <p:guideLst>
        <p:guide orient="horz" pos="3135"/>
        <p:guide pos="238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señ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8A147D60-92ED-4C21-98E9-DF131E84499D}"/>
              </a:ext>
            </a:extLst>
          </p:cNvPr>
          <p:cNvSpPr txBox="1"/>
          <p:nvPr/>
        </p:nvSpPr>
        <p:spPr>
          <a:xfrm>
            <a:off x="479425" y="320657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Contexto</a:t>
            </a:r>
            <a:endParaRPr lang="es-CO" sz="3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7C77CCA-2C3F-489B-B3E7-7A47EDF47E0F}"/>
              </a:ext>
            </a:extLst>
          </p:cNvPr>
          <p:cNvSpPr txBox="1"/>
          <p:nvPr/>
        </p:nvSpPr>
        <p:spPr>
          <a:xfrm>
            <a:off x="715095" y="3588017"/>
            <a:ext cx="11683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pc="-10" dirty="0">
                <a:solidFill>
                  <a:srgbClr val="7030A0"/>
                </a:solidFill>
                <a:latin typeface="Arial"/>
                <a:ea typeface="+mj-ea"/>
                <a:cs typeface="Arial"/>
              </a:rPr>
              <a:t>Colombia: mayoría en matrícula, minoría en STEM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C38C65-8550-4531-ABA2-F9023A9ACE8C}"/>
              </a:ext>
            </a:extLst>
          </p:cNvPr>
          <p:cNvSpPr>
            <a:spLocks noGrp="1"/>
          </p:cNvSpPr>
          <p:nvPr/>
        </p:nvSpPr>
        <p:spPr>
          <a:xfrm>
            <a:off x="1893001" y="4267673"/>
            <a:ext cx="8520362" cy="49462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34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00" dirty="0">
                <a:solidFill>
                  <a:srgbClr val="173449"/>
                </a:solidFill>
                <a:latin typeface="Arial" panose="020B0604020202020204" pitchFamily="34" charset="0"/>
              </a:rPr>
              <a:t>Mujeres entre </a:t>
            </a:r>
            <a:r>
              <a:rPr lang="es-CO" sz="2000" dirty="0">
                <a:solidFill>
                  <a:srgbClr val="173449"/>
                </a:solidFill>
                <a:latin typeface="Arial" panose="020B0604020202020204" pitchFamily="34" charset="0"/>
              </a:rPr>
              <a:t>todos</a:t>
            </a:r>
            <a:r>
              <a:rPr sz="2000" dirty="0">
                <a:solidFill>
                  <a:srgbClr val="173449"/>
                </a:solidFill>
                <a:latin typeface="Arial" panose="020B0604020202020204" pitchFamily="34" charset="0"/>
              </a:rPr>
              <a:t> los </a:t>
            </a:r>
            <a:r>
              <a:rPr lang="es-CO" sz="2000" dirty="0">
                <a:solidFill>
                  <a:srgbClr val="173449"/>
                </a:solidFill>
                <a:latin typeface="Arial" panose="020B0604020202020204" pitchFamily="34" charset="0"/>
              </a:rPr>
              <a:t>matriculados</a:t>
            </a:r>
            <a:r>
              <a:rPr lang="es-ES" sz="2000" dirty="0">
                <a:solidFill>
                  <a:srgbClr val="173449"/>
                </a:solidFill>
                <a:latin typeface="Arial" panose="020B0604020202020204" pitchFamily="34" charset="0"/>
              </a:rPr>
              <a:t> </a:t>
            </a:r>
            <a:r>
              <a:rPr sz="2000" dirty="0" err="1">
                <a:solidFill>
                  <a:srgbClr val="173449"/>
                </a:solidFill>
                <a:latin typeface="Arial" panose="020B0604020202020204" pitchFamily="34" charset="0"/>
              </a:rPr>
              <a:t>en</a:t>
            </a:r>
            <a:r>
              <a:rPr sz="2000" dirty="0">
                <a:solidFill>
                  <a:srgbClr val="173449"/>
                </a:solidFill>
                <a:latin typeface="Arial" panose="020B0604020202020204" pitchFamily="34" charset="0"/>
              </a:rPr>
              <a:t> </a:t>
            </a:r>
            <a:r>
              <a:rPr lang="es-CO" sz="2000" dirty="0">
                <a:solidFill>
                  <a:srgbClr val="173449"/>
                </a:solidFill>
                <a:latin typeface="Arial" panose="020B0604020202020204" pitchFamily="34" charset="0"/>
              </a:rPr>
              <a:t>educación</a:t>
            </a:r>
            <a:r>
              <a:rPr sz="2000" dirty="0">
                <a:solidFill>
                  <a:srgbClr val="173449"/>
                </a:solidFill>
                <a:latin typeface="Arial" panose="020B0604020202020204" pitchFamily="34" charset="0"/>
              </a:rPr>
              <a:t> superior, 2023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CEAE08F-BD3E-4509-9FDD-CFAC10B31E75}"/>
              </a:ext>
            </a:extLst>
          </p:cNvPr>
          <p:cNvSpPr>
            <a:spLocks noGrp="1"/>
          </p:cNvSpPr>
          <p:nvPr/>
        </p:nvSpPr>
        <p:spPr>
          <a:xfrm>
            <a:off x="1893001" y="5272625"/>
            <a:ext cx="8405997" cy="36933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34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O" sz="2000" dirty="0">
                <a:solidFill>
                  <a:srgbClr val="173449"/>
                </a:solidFill>
                <a:latin typeface="Arial" panose="020B0604020202020204" pitchFamily="34" charset="0"/>
              </a:rPr>
              <a:t>Mujeres entre todos los graduados de programas STEM, 2023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058C7FD-379E-4F18-AD3F-064DA50B3DD8}"/>
              </a:ext>
            </a:extLst>
          </p:cNvPr>
          <p:cNvSpPr>
            <a:spLocks noChangeAspect="1"/>
          </p:cNvSpPr>
          <p:nvPr/>
        </p:nvSpPr>
        <p:spPr>
          <a:xfrm>
            <a:off x="832826" y="3984501"/>
            <a:ext cx="900000" cy="900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5700" b="1">
                <a:solidFill>
                  <a:srgbClr val="007F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O" sz="1600" b="1" dirty="0">
                <a:solidFill>
                  <a:schemeClr val="bg1"/>
                </a:solidFill>
                <a:latin typeface="Arial" panose="020B0604020202020204" pitchFamily="34" charset="0"/>
                <a:ea typeface="Bitstream Charter"/>
                <a:cs typeface="Arial" panose="020B0604020202020204" pitchFamily="34" charset="0"/>
              </a:rPr>
              <a:t>53,1 %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A8031B-1274-4B66-9A51-6A2DD664B519}"/>
              </a:ext>
            </a:extLst>
          </p:cNvPr>
          <p:cNvSpPr/>
          <p:nvPr/>
        </p:nvSpPr>
        <p:spPr>
          <a:xfrm>
            <a:off x="832826" y="4975040"/>
            <a:ext cx="900000" cy="900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5700" b="1">
                <a:solidFill>
                  <a:srgbClr val="007F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O" sz="1600" b="1" dirty="0">
                <a:solidFill>
                  <a:schemeClr val="bg1"/>
                </a:solidFill>
                <a:latin typeface="Arial" panose="020B0604020202020204" pitchFamily="34" charset="0"/>
                <a:ea typeface="Bitstream Charter"/>
                <a:cs typeface="Arial" panose="020B0604020202020204" pitchFamily="34" charset="0"/>
              </a:rPr>
              <a:t>35,2 %</a:t>
            </a: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CD49446F-92AA-46A7-8EFE-4D519C2BEE6E}"/>
              </a:ext>
            </a:extLst>
          </p:cNvPr>
          <p:cNvSpPr txBox="1"/>
          <p:nvPr/>
        </p:nvSpPr>
        <p:spPr>
          <a:xfrm>
            <a:off x="564157" y="1000438"/>
            <a:ext cx="8334745" cy="62773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>
              <a:defRPr sz="2000" b="0">
                <a:solidFill>
                  <a:srgbClr val="173449"/>
                </a:solidFill>
                <a:latin typeface="Arial" panose="020B0604020202020204" pitchFamily="34" charset="0"/>
                <a:ea typeface="Bitstream Charter"/>
                <a:cs typeface="Bitstream Charter"/>
              </a:defRPr>
            </a:lvl1pPr>
          </a:lstStyle>
          <a:p>
            <a:r>
              <a:rPr lang="es-ES" dirty="0"/>
              <a:t>La presencia femenina en el conjunto de la educación superior convive con una menor representación entre quienes se gradúan en STEM.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EBDFBEF-D5C1-4E75-B9D0-19E524C370B4}"/>
              </a:ext>
            </a:extLst>
          </p:cNvPr>
          <p:cNvSpPr>
            <a:spLocks noGrp="1"/>
          </p:cNvSpPr>
          <p:nvPr/>
        </p:nvSpPr>
        <p:spPr>
          <a:xfrm>
            <a:off x="1893001" y="1838807"/>
            <a:ext cx="8520362" cy="49462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MX" sz="2000" noProof="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Porcentaje</a:t>
            </a:r>
            <a:r>
              <a:rPr lang="es-MX" sz="200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s-MX" sz="2000" noProof="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graduadas</a:t>
            </a:r>
            <a:r>
              <a:rPr lang="es-MX" sz="200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noProof="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ciencia, tecnología, ingeniería y</a:t>
            </a:r>
            <a:r>
              <a:rPr lang="es-MX" sz="200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noProof="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matemáticas</a:t>
            </a:r>
            <a:r>
              <a:rPr lang="es-MX" sz="200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(STEM) - Global Unesco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DC8FE7E-7171-47AA-A358-63B5274212E1}"/>
              </a:ext>
            </a:extLst>
          </p:cNvPr>
          <p:cNvSpPr>
            <a:spLocks noGrp="1"/>
          </p:cNvSpPr>
          <p:nvPr/>
        </p:nvSpPr>
        <p:spPr>
          <a:xfrm>
            <a:off x="1893001" y="2742165"/>
            <a:ext cx="7984336" cy="36933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1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MX" sz="2000" noProof="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Porcentaje</a:t>
            </a:r>
            <a:r>
              <a:rPr lang="es-MX" sz="200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s-MX" sz="2000" noProof="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graduadas</a:t>
            </a:r>
            <a:r>
              <a:rPr lang="es-MX" sz="200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noProof="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ciencia, tecnología, ingeniería y</a:t>
            </a:r>
            <a:r>
              <a:rPr lang="es-MX" sz="200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noProof="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matemáticas</a:t>
            </a:r>
            <a:r>
              <a:rPr lang="es-MX" sz="2000" dirty="0">
                <a:solidFill>
                  <a:srgbClr val="1734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(STEM) – Colombia 2023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0502807-6D58-40C1-8A38-7D5F84FE8004}"/>
              </a:ext>
            </a:extLst>
          </p:cNvPr>
          <p:cNvSpPr/>
          <p:nvPr/>
        </p:nvSpPr>
        <p:spPr>
          <a:xfrm>
            <a:off x="832826" y="1641409"/>
            <a:ext cx="900000" cy="900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5700" b="1">
                <a:solidFill>
                  <a:srgbClr val="007F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O" sz="1600" b="1" dirty="0">
                <a:solidFill>
                  <a:schemeClr val="bg1"/>
                </a:solidFill>
                <a:latin typeface="Arial" panose="020B0604020202020204" pitchFamily="34" charset="0"/>
                <a:ea typeface="Bitstream Charter"/>
                <a:cs typeface="Arial" panose="020B0604020202020204" pitchFamily="34" charset="0"/>
              </a:rPr>
              <a:t>35,0 %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B83B349-A397-41EB-AF14-01CDD1AE8DFE}"/>
              </a:ext>
            </a:extLst>
          </p:cNvPr>
          <p:cNvSpPr/>
          <p:nvPr/>
        </p:nvSpPr>
        <p:spPr>
          <a:xfrm>
            <a:off x="832826" y="2630452"/>
            <a:ext cx="900000" cy="900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5700" b="1">
                <a:solidFill>
                  <a:srgbClr val="007F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CO" sz="1600" b="1" dirty="0">
                <a:solidFill>
                  <a:schemeClr val="bg1"/>
                </a:solidFill>
                <a:latin typeface="Arial" panose="020B0604020202020204" pitchFamily="34" charset="0"/>
                <a:ea typeface="Bitstream Charter"/>
                <a:cs typeface="Arial" panose="020B0604020202020204" pitchFamily="34" charset="0"/>
              </a:rPr>
              <a:t>35,2 %</a:t>
            </a:r>
          </a:p>
        </p:txBody>
      </p:sp>
    </p:spTree>
    <p:extLst>
      <p:ext uri="{BB962C8B-B14F-4D97-AF65-F5344CB8AC3E}">
        <p14:creationId xmlns:p14="http://schemas.microsoft.com/office/powerpoint/2010/main" val="3858445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02F088E-5BCB-4165-A5B4-C75601CB263A}"/>
              </a:ext>
            </a:extLst>
          </p:cNvPr>
          <p:cNvSpPr txBox="1"/>
          <p:nvPr/>
        </p:nvSpPr>
        <p:spPr>
          <a:xfrm>
            <a:off x="479425" y="1177458"/>
            <a:ext cx="81327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173449"/>
                </a:solidFill>
                <a:latin typeface="Arial" panose="020B0604020202020204" pitchFamily="34" charset="0"/>
              </a:rPr>
              <a:t>El 35 % global y el 35,2 % de Colombia justifican estudiar cómo se distribuye la participación femenina en STEM, más allá del promedio nacional.</a:t>
            </a: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​</a:t>
            </a:r>
          </a:p>
          <a:p>
            <a:pPr algn="just"/>
            <a:r>
              <a:rPr lang="es-ES" dirty="0">
                <a:solidFill>
                  <a:srgbClr val="173449"/>
                </a:solidFill>
                <a:latin typeface="Arial" panose="020B0604020202020204" pitchFamily="34" charset="0"/>
              </a:rPr>
              <a:t>​</a:t>
            </a:r>
          </a:p>
          <a:p>
            <a:pPr algn="just"/>
            <a:r>
              <a:rPr lang="es-ES" dirty="0">
                <a:solidFill>
                  <a:srgbClr val="173449"/>
                </a:solidFill>
                <a:latin typeface="Arial" panose="020B0604020202020204" pitchFamily="34" charset="0"/>
              </a:rPr>
              <a:t>Analizar la matrícula y la graduación por disciplina, territorio y periodo permitirá localizar las mayores brechas y reconocer tendencias. Esta evidencia puede orientar iniciativas de acceso y acompañamiento académico, así como definir indicadores para evaluar sus resultados.</a:t>
            </a: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​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147D60-92ED-4C21-98E9-DF131E84499D}"/>
              </a:ext>
            </a:extLst>
          </p:cNvPr>
          <p:cNvSpPr txBox="1"/>
          <p:nvPr/>
        </p:nvSpPr>
        <p:spPr>
          <a:xfrm>
            <a:off x="479425" y="320657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Contexto</a:t>
            </a:r>
            <a:endParaRPr lang="es-CO" sz="3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54EB30B-AFAC-4A88-9D67-90D4B7C54608}"/>
              </a:ext>
            </a:extLst>
          </p:cNvPr>
          <p:cNvSpPr txBox="1"/>
          <p:nvPr/>
        </p:nvSpPr>
        <p:spPr>
          <a:xfrm>
            <a:off x="3515429" y="3419253"/>
            <a:ext cx="6207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rgbClr val="173449"/>
                </a:solidFill>
                <a:latin typeface="Arial" panose="020B0604020202020204" pitchFamily="34" charset="0"/>
              </a:rPr>
              <a:t>Fuentes: UNESCO, Banco Mundial–UIS y bases consolidadas del SNIES.​</a:t>
            </a:r>
            <a:endParaRPr lang="es-CO" sz="1400" dirty="0">
              <a:solidFill>
                <a:srgbClr val="17344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684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02F088E-5BCB-4165-A5B4-C75601CB263A}"/>
              </a:ext>
            </a:extLst>
          </p:cNvPr>
          <p:cNvSpPr txBox="1"/>
          <p:nvPr/>
        </p:nvSpPr>
        <p:spPr>
          <a:xfrm>
            <a:off x="479425" y="1180638"/>
            <a:ext cx="8132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0" i="0" u="none" strike="noStrike" dirty="0">
                <a:solidFill>
                  <a:srgbClr val="173449"/>
                </a:solidFill>
                <a:effectLst/>
                <a:latin typeface="Arial" panose="020B0604020202020204" pitchFamily="34" charset="0"/>
              </a:rPr>
              <a:t>Analizar la evolución y distribución de la participación femenina en la matrícula y la graduación de programas STEM en Colombia, tomando las cifras internacionales como referencia contextual.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147D60-92ED-4C21-98E9-DF131E84499D}"/>
              </a:ext>
            </a:extLst>
          </p:cNvPr>
          <p:cNvSpPr txBox="1"/>
          <p:nvPr/>
        </p:nvSpPr>
        <p:spPr>
          <a:xfrm>
            <a:off x="479425" y="32065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endParaRPr lang="es-CO" sz="3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D1098EC-7868-47EC-B4D1-54CEF5BB261B}"/>
              </a:ext>
            </a:extLst>
          </p:cNvPr>
          <p:cNvSpPr txBox="1"/>
          <p:nvPr/>
        </p:nvSpPr>
        <p:spPr>
          <a:xfrm>
            <a:off x="479424" y="2245874"/>
            <a:ext cx="27751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Indicadores</a:t>
            </a:r>
            <a:endParaRPr lang="es-CO" sz="3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6CB33CC-1BCE-40C3-9E32-207FC21B5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414" y="2317618"/>
            <a:ext cx="4698741" cy="313249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90B21CD-0353-4E04-9FF8-EBEBF5D18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384" y="3105855"/>
            <a:ext cx="3560406" cy="237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02F088E-5BCB-4165-A5B4-C75601CB263A}"/>
              </a:ext>
            </a:extLst>
          </p:cNvPr>
          <p:cNvSpPr txBox="1"/>
          <p:nvPr/>
        </p:nvSpPr>
        <p:spPr>
          <a:xfrm>
            <a:off x="479425" y="1180638"/>
            <a:ext cx="81327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173449"/>
                </a:solidFill>
                <a:latin typeface="Arial" panose="020B0604020202020204" pitchFamily="34" charset="0"/>
              </a:rPr>
              <a:t>El 35 % global y el 35,2 % de Colombia justifican estudiar cómo se distribuye la participación femenina en STEM, más allá del promedio nacional.</a:t>
            </a: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​</a:t>
            </a:r>
          </a:p>
          <a:p>
            <a:pPr algn="just"/>
            <a:r>
              <a:rPr lang="es-ES" dirty="0">
                <a:solidFill>
                  <a:srgbClr val="173449"/>
                </a:solidFill>
                <a:latin typeface="Arial" panose="020B0604020202020204" pitchFamily="34" charset="0"/>
              </a:rPr>
              <a:t>​</a:t>
            </a:r>
          </a:p>
          <a:p>
            <a:pPr algn="just"/>
            <a:r>
              <a:rPr lang="es-ES" dirty="0">
                <a:solidFill>
                  <a:srgbClr val="173449"/>
                </a:solidFill>
                <a:latin typeface="Arial" panose="020B0604020202020204" pitchFamily="34" charset="0"/>
              </a:rPr>
              <a:t>Analizar la matrícula y la graduación por disciplina, territorio y periodo permitirá localizar las mayores brechas y reconocer tendencias. Esta evidencia puede orientar iniciativas de acceso y acompañamiento académico, así como definir indicadores para evaluar sus resultados.</a:t>
            </a: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​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147D60-92ED-4C21-98E9-DF131E84499D}"/>
              </a:ext>
            </a:extLst>
          </p:cNvPr>
          <p:cNvSpPr txBox="1"/>
          <p:nvPr/>
        </p:nvSpPr>
        <p:spPr>
          <a:xfrm>
            <a:off x="479425" y="320657"/>
            <a:ext cx="3005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Justificación</a:t>
            </a:r>
            <a:endParaRPr lang="es-CO" sz="3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54EB30B-AFAC-4A88-9D67-90D4B7C54608}"/>
              </a:ext>
            </a:extLst>
          </p:cNvPr>
          <p:cNvSpPr txBox="1"/>
          <p:nvPr/>
        </p:nvSpPr>
        <p:spPr>
          <a:xfrm>
            <a:off x="3732245" y="3271724"/>
            <a:ext cx="6207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rgbClr val="173449"/>
                </a:solidFill>
                <a:latin typeface="Arial" panose="020B0604020202020204" pitchFamily="34" charset="0"/>
              </a:rPr>
              <a:t>Fuentes: UNESCO, Banco Mundial–UIS y bases consolidadas del SNIES.​</a:t>
            </a:r>
            <a:endParaRPr lang="es-CO" sz="1400" dirty="0">
              <a:solidFill>
                <a:srgbClr val="173449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CE090D7-7DAC-43CF-8F89-25E922309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105" y="3639262"/>
            <a:ext cx="4724400" cy="166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9520D4D-FC7C-47FF-A5B8-45C3A45CFD41}"/>
              </a:ext>
            </a:extLst>
          </p:cNvPr>
          <p:cNvSpPr txBox="1"/>
          <p:nvPr/>
        </p:nvSpPr>
        <p:spPr>
          <a:xfrm>
            <a:off x="479425" y="320657"/>
            <a:ext cx="6365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Procesamiento de los Datos</a:t>
            </a:r>
            <a:endParaRPr lang="es-CO" sz="3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A98D935-DABB-4AD5-92E0-71A024586276}"/>
              </a:ext>
            </a:extLst>
          </p:cNvPr>
          <p:cNvSpPr txBox="1"/>
          <p:nvPr/>
        </p:nvSpPr>
        <p:spPr>
          <a:xfrm>
            <a:off x="479425" y="1250144"/>
            <a:ext cx="1975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Enlace a estructura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5671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99C1B8D-2C53-4ABE-A997-84AD43483480}"/>
              </a:ext>
            </a:extLst>
          </p:cNvPr>
          <p:cNvSpPr txBox="1"/>
          <p:nvPr/>
        </p:nvSpPr>
        <p:spPr>
          <a:xfrm>
            <a:off x="455800" y="3912638"/>
            <a:ext cx="2135521" cy="138499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Descargar archivos: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SNIES</a:t>
            </a:r>
          </a:p>
          <a:p>
            <a:r>
              <a:rPr lang="es-MX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Cargar base de datos: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Matriculas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0C7ADF-CE4E-4DD6-B4B4-27CD0525B68B}"/>
              </a:ext>
            </a:extLst>
          </p:cNvPr>
          <p:cNvSpPr txBox="1"/>
          <p:nvPr/>
        </p:nvSpPr>
        <p:spPr>
          <a:xfrm>
            <a:off x="5159828" y="3921969"/>
            <a:ext cx="187234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</a:defRPr>
            </a:lvl1pPr>
          </a:lstStyle>
          <a:p>
            <a:pPr algn="ctr"/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Modelado de datos - Business </a:t>
            </a:r>
            <a:r>
              <a:rPr lang="es-CO" sz="1400" dirty="0" err="1">
                <a:latin typeface="Arial" panose="020B0604020202020204" pitchFamily="34" charset="0"/>
                <a:cs typeface="Arial" panose="020B0604020202020204" pitchFamily="34" charset="0"/>
              </a:rPr>
              <a:t>Intelligence</a:t>
            </a:r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 (BI)</a:t>
            </a:r>
          </a:p>
          <a:p>
            <a:pPr algn="ctr"/>
            <a:endParaRPr lang="es-CO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7CF5C6-12AC-435D-89AE-692E75AC6BC9}"/>
              </a:ext>
            </a:extLst>
          </p:cNvPr>
          <p:cNvSpPr txBox="1"/>
          <p:nvPr/>
        </p:nvSpPr>
        <p:spPr>
          <a:xfrm>
            <a:off x="2248677" y="823311"/>
            <a:ext cx="31724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</a:defRPr>
            </a:lvl1pPr>
          </a:lstStyle>
          <a:p>
            <a:pPr algn="ctr"/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Conexión a Drive</a:t>
            </a:r>
          </a:p>
          <a:p>
            <a:pPr algn="ctr"/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Diagnostico de Archivos</a:t>
            </a:r>
          </a:p>
          <a:p>
            <a:pPr algn="ctr"/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Revisar Columnas</a:t>
            </a:r>
          </a:p>
          <a:p>
            <a:pPr algn="ctr"/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Definir estructura BD</a:t>
            </a:r>
          </a:p>
          <a:p>
            <a:pPr algn="ctr"/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Normalizar Nombre de Campos</a:t>
            </a:r>
          </a:p>
          <a:p>
            <a:pPr algn="ctr"/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Homologación de archivos</a:t>
            </a:r>
          </a:p>
          <a:p>
            <a:pPr algn="ctr"/>
            <a:r>
              <a:rPr lang="es-CO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Unificar Archivos</a:t>
            </a:r>
          </a:p>
          <a:p>
            <a:pPr algn="ctr"/>
            <a:endParaRPr lang="es-CO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227DB84-3309-4252-999A-BBFEEFA448BD}"/>
              </a:ext>
            </a:extLst>
          </p:cNvPr>
          <p:cNvSpPr txBox="1"/>
          <p:nvPr/>
        </p:nvSpPr>
        <p:spPr>
          <a:xfrm>
            <a:off x="2579755" y="3918861"/>
            <a:ext cx="2496093" cy="16004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s-CO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Limpieza de Valores nulos</a:t>
            </a:r>
          </a:p>
          <a:p>
            <a:pPr algn="ctr"/>
            <a:r>
              <a:rPr lang="es-CO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Limpieza de Duplicados exactos</a:t>
            </a:r>
          </a:p>
          <a:p>
            <a:pPr algn="ctr"/>
            <a:r>
              <a:rPr lang="es-CO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Conversión de tipos de datos</a:t>
            </a:r>
          </a:p>
          <a:p>
            <a:pPr algn="ctr"/>
            <a:r>
              <a:rPr lang="es-CO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Homologación de variables Categóricas</a:t>
            </a:r>
          </a:p>
          <a:p>
            <a:pPr algn="ctr"/>
            <a:r>
              <a:rPr lang="es-CO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Guardar </a:t>
            </a:r>
            <a:r>
              <a:rPr lang="es-CO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Bd</a:t>
            </a:r>
            <a:r>
              <a:rPr lang="es-CO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5A34AC6-E320-4F6B-A106-91B0EB10C0B1}"/>
              </a:ext>
            </a:extLst>
          </p:cNvPr>
          <p:cNvSpPr txBox="1"/>
          <p:nvPr/>
        </p:nvSpPr>
        <p:spPr>
          <a:xfrm>
            <a:off x="7355632" y="3912637"/>
            <a:ext cx="187234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</a:defRPr>
            </a:lvl1pPr>
          </a:lstStyle>
          <a:p>
            <a:pPr algn="ctr"/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</a:p>
          <a:p>
            <a:pPr algn="ctr"/>
            <a:endParaRPr lang="es-CO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159F035-EC5D-42D1-87B9-29D8A03A3572}"/>
              </a:ext>
            </a:extLst>
          </p:cNvPr>
          <p:cNvSpPr txBox="1"/>
          <p:nvPr/>
        </p:nvSpPr>
        <p:spPr>
          <a:xfrm>
            <a:off x="479425" y="320657"/>
            <a:ext cx="6365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Procesamiento de los Datos</a:t>
            </a:r>
            <a:endParaRPr lang="es-CO" sz="3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54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F966AA5-97C3-4BF8-AD5A-2BA89E7B90D1}"/>
              </a:ext>
            </a:extLst>
          </p:cNvPr>
          <p:cNvSpPr/>
          <p:nvPr/>
        </p:nvSpPr>
        <p:spPr>
          <a:xfrm>
            <a:off x="718457" y="3853543"/>
            <a:ext cx="8360229" cy="10543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4AC4AAC-5536-4F1D-9B4F-B3CD5EA20D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658" r="19720"/>
          <a:stretch/>
        </p:blipFill>
        <p:spPr>
          <a:xfrm>
            <a:off x="3293050" y="730037"/>
            <a:ext cx="1005739" cy="181604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C95A2CC-FF38-4C00-B3DA-90EC1A58C5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347" r="39030"/>
          <a:stretch/>
        </p:blipFill>
        <p:spPr>
          <a:xfrm>
            <a:off x="1065331" y="3533187"/>
            <a:ext cx="981311" cy="177193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9A9180-746C-4E58-B21A-7416367C63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365" r="57589"/>
          <a:stretch/>
        </p:blipFill>
        <p:spPr>
          <a:xfrm>
            <a:off x="1010773" y="4755385"/>
            <a:ext cx="1151287" cy="183947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5D08FB1-A782-4E08-A8F7-F5CCA6D423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8418"/>
          <a:stretch/>
        </p:blipFill>
        <p:spPr>
          <a:xfrm>
            <a:off x="944241" y="630612"/>
            <a:ext cx="1229367" cy="191547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978AD28-ACEE-4FD3-9785-B6F84C97E8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378"/>
          <a:stretch/>
        </p:blipFill>
        <p:spPr>
          <a:xfrm>
            <a:off x="5581997" y="3580665"/>
            <a:ext cx="928724" cy="1676983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4C9CB4AE-C82C-4DC1-B6C6-1AE35B1CB271}"/>
              </a:ext>
            </a:extLst>
          </p:cNvPr>
          <p:cNvSpPr txBox="1"/>
          <p:nvPr/>
        </p:nvSpPr>
        <p:spPr>
          <a:xfrm>
            <a:off x="479425" y="320657"/>
            <a:ext cx="5416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Herramientas Utilizadas</a:t>
            </a:r>
            <a:endParaRPr lang="es-CO" sz="3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00A824D-179D-442A-906D-BB302616E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471" y="4003948"/>
            <a:ext cx="1581539" cy="105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8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0242B10-81FE-4BCF-AE5B-A4E7618B7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0"/>
            <a:ext cx="4724400" cy="1661917"/>
          </a:xfrm>
          <a:prstGeom prst="rect">
            <a:avLst/>
          </a:prstGeom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B05C5BC5-50D0-4295-8D0D-5DF0037D297D}"/>
              </a:ext>
            </a:extLst>
          </p:cNvPr>
          <p:cNvSpPr txBox="1"/>
          <p:nvPr/>
        </p:nvSpPr>
        <p:spPr>
          <a:xfrm>
            <a:off x="596090" y="1052713"/>
            <a:ext cx="11268075" cy="444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/>
            <a:r>
              <a:rPr lang="es-MX" dirty="0">
                <a:solidFill>
                  <a:srgbClr val="173449"/>
                </a:solidFill>
                <a:latin typeface="Arial" panose="020B0604020202020204" pitchFamily="34" charset="0"/>
              </a:rPr>
              <a:t>¿Qué nos muestra el análisis?</a:t>
            </a:r>
          </a:p>
          <a:p>
            <a:pPr algn="just"/>
            <a:endParaRPr lang="es-MX" dirty="0">
              <a:solidFill>
                <a:srgbClr val="173449"/>
              </a:solidFill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73449"/>
                </a:solidFill>
                <a:latin typeface="Arial" panose="020B0604020202020204" pitchFamily="34" charset="0"/>
              </a:rPr>
              <a:t>Menor participación femenina en STEM que en el conjunto de la educación superior.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>
              <a:solidFill>
                <a:srgbClr val="173449"/>
              </a:solidFill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73449"/>
                </a:solidFill>
                <a:latin typeface="Arial" panose="020B0604020202020204" pitchFamily="34" charset="0"/>
              </a:rPr>
              <a:t>Brechas diferentes según disciplina y componente STEM.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>
              <a:solidFill>
                <a:srgbClr val="173449"/>
              </a:solidFill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73449"/>
                </a:solidFill>
                <a:latin typeface="Arial" panose="020B0604020202020204" pitchFamily="34" charset="0"/>
              </a:rPr>
              <a:t>Importantes diferencias territoriales e institucionales.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>
              <a:solidFill>
                <a:srgbClr val="173449"/>
              </a:solidFill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73449"/>
                </a:solidFill>
                <a:latin typeface="Arial" panose="020B0604020202020204" pitchFamily="34" charset="0"/>
              </a:rPr>
              <a:t>El nivel de formación modifica la composición por sexo.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>
              <a:solidFill>
                <a:srgbClr val="173449"/>
              </a:solidFill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73449"/>
                </a:solidFill>
                <a:latin typeface="Arial" panose="020B0604020202020204" pitchFamily="34" charset="0"/>
              </a:rPr>
              <a:t>La evolución temporal permite identificar tendencias.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>
              <a:solidFill>
                <a:srgbClr val="173449"/>
              </a:solidFill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73449"/>
                </a:solidFill>
                <a:latin typeface="Arial" panose="020B0604020202020204" pitchFamily="34" charset="0"/>
              </a:rPr>
              <a:t>Matrícula y graduación deben analizarse por separado.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>
              <a:solidFill>
                <a:srgbClr val="173449"/>
              </a:solidFill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73449"/>
                </a:solidFill>
                <a:latin typeface="Arial" panose="020B0604020202020204" pitchFamily="34" charset="0"/>
              </a:rPr>
              <a:t>La brecha STEM requiere estrategias focalizadas, no una solución única</a:t>
            </a:r>
            <a:r>
              <a:rPr lang="es-MX" b="1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2FC5FD-D73E-4A9A-BFD2-696CA0FEE3FE}"/>
              </a:ext>
            </a:extLst>
          </p:cNvPr>
          <p:cNvSpPr txBox="1"/>
          <p:nvPr/>
        </p:nvSpPr>
        <p:spPr>
          <a:xfrm>
            <a:off x="479425" y="320657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Referencias</a:t>
            </a:r>
            <a:endParaRPr lang="es-CO" sz="36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99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0242B10-81FE-4BCF-AE5B-A4E7618B7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128" y="5005724"/>
            <a:ext cx="6285722" cy="2211148"/>
          </a:xfrm>
          <a:prstGeom prst="rect">
            <a:avLst/>
          </a:prstGeom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B05C5BC5-50D0-4295-8D0D-5DF0037D297D}"/>
              </a:ext>
            </a:extLst>
          </p:cNvPr>
          <p:cNvSpPr txBox="1"/>
          <p:nvPr/>
        </p:nvSpPr>
        <p:spPr>
          <a:xfrm>
            <a:off x="596090" y="966988"/>
            <a:ext cx="11268075" cy="39290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UNESCO </a:t>
            </a:r>
            <a:r>
              <a:rPr lang="en-US" dirty="0" err="1">
                <a:solidFill>
                  <a:srgbClr val="173449"/>
                </a:solidFill>
                <a:latin typeface="Arial" panose="020B0604020202020204" pitchFamily="34" charset="0"/>
              </a:rPr>
              <a:t>s.f.</a:t>
            </a:r>
            <a:endParaRPr lang="en-US" dirty="0">
              <a:solidFill>
                <a:srgbClr val="173449"/>
              </a:solidFill>
              <a:latin typeface="Arial" panose="020B0604020202020204" pitchFamily="34" charset="0"/>
            </a:endParaRPr>
          </a:p>
          <a:p>
            <a:pPr marL="12700" marR="5080">
              <a:lnSpc>
                <a:spcPct val="101000"/>
              </a:lnSpc>
              <a:spcBef>
                <a:spcPts val="95"/>
              </a:spcBef>
              <a:spcAft>
                <a:spcPts val="1200"/>
              </a:spcAft>
            </a:pP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https://www.unesco.org/en/gender-equality/education/stem</a:t>
            </a:r>
          </a:p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Banco Mundial / Instituto de </a:t>
            </a:r>
            <a:r>
              <a:rPr lang="es-CO" dirty="0">
                <a:solidFill>
                  <a:srgbClr val="173449"/>
                </a:solidFill>
                <a:latin typeface="Arial" panose="020B0604020202020204" pitchFamily="34" charset="0"/>
              </a:rPr>
              <a:t>Estadística</a:t>
            </a: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 de UNESCO</a:t>
            </a:r>
          </a:p>
          <a:p>
            <a:pPr marL="12700" marR="5080">
              <a:lnSpc>
                <a:spcPct val="101000"/>
              </a:lnSpc>
              <a:spcBef>
                <a:spcPts val="95"/>
              </a:spcBef>
              <a:spcAft>
                <a:spcPts val="1200"/>
              </a:spcAft>
            </a:pP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https://genderdata.worldbank.org/en/indicator/se-ter-grad-fe-zs?fieldOfStudy=Science%2C+Technology%2C+Engineering+and+Mathematics+%28STEM%29</a:t>
            </a:r>
          </a:p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lang="es-ES" dirty="0">
                <a:solidFill>
                  <a:srgbClr val="173449"/>
                </a:solidFill>
                <a:latin typeface="Arial" panose="020B0604020202020204" pitchFamily="34" charset="0"/>
              </a:rPr>
              <a:t>Ministerio de Educación Nacional (2025)</a:t>
            </a:r>
          </a:p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lang="es-ES" dirty="0">
                <a:solidFill>
                  <a:srgbClr val="173449"/>
                </a:solidFill>
                <a:latin typeface="Arial" panose="020B0604020202020204" pitchFamily="34" charset="0"/>
              </a:rPr>
              <a:t>Las mujeres siguen ganando terreno en la educación superior en Colombia.</a:t>
            </a:r>
          </a:p>
          <a:p>
            <a:pPr marL="12700" marR="5080">
              <a:lnSpc>
                <a:spcPct val="101000"/>
              </a:lnSpc>
              <a:spcBef>
                <a:spcPts val="95"/>
              </a:spcBef>
              <a:spcAft>
                <a:spcPts val="1200"/>
              </a:spcAft>
            </a:pPr>
            <a:r>
              <a:rPr lang="es-ES" dirty="0">
                <a:solidFill>
                  <a:srgbClr val="173449"/>
                </a:solidFill>
                <a:latin typeface="Arial" panose="020B0604020202020204" pitchFamily="34" charset="0"/>
              </a:rPr>
              <a:t>https://mineducacion.gov.co/portal/salaprensa/Comunicados/423751:Las-mujeres-siguen-ganando-terreno-en-la-educacion-superior-en-Colombia</a:t>
            </a:r>
          </a:p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lang="es-ES" dirty="0">
                <a:solidFill>
                  <a:srgbClr val="173449"/>
                </a:solidFill>
                <a:latin typeface="Arial" panose="020B0604020202020204" pitchFamily="34" charset="0"/>
              </a:rPr>
              <a:t>Ministerio de Educación Nacional / SNIES</a:t>
            </a:r>
          </a:p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Bases </a:t>
            </a:r>
            <a:r>
              <a:rPr lang="en-US" dirty="0" err="1">
                <a:solidFill>
                  <a:srgbClr val="173449"/>
                </a:solidFill>
                <a:latin typeface="Arial" panose="020B0604020202020204" pitchFamily="34" charset="0"/>
              </a:rPr>
              <a:t>consolidadas</a:t>
            </a: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173449"/>
                </a:solidFill>
                <a:latin typeface="Arial" panose="020B0604020202020204" pitchFamily="34" charset="0"/>
              </a:rPr>
              <a:t>matriculados</a:t>
            </a: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 y </a:t>
            </a:r>
            <a:r>
              <a:rPr lang="en-US" dirty="0" err="1">
                <a:solidFill>
                  <a:srgbClr val="173449"/>
                </a:solidFill>
                <a:latin typeface="Arial" panose="020B0604020202020204" pitchFamily="34" charset="0"/>
              </a:rPr>
              <a:t>graduados</a:t>
            </a: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.</a:t>
            </a:r>
          </a:p>
          <a:p>
            <a:pPr marL="12700" marR="5080">
              <a:lnSpc>
                <a:spcPct val="101000"/>
              </a:lnSpc>
              <a:spcBef>
                <a:spcPts val="95"/>
              </a:spcBef>
              <a:spcAft>
                <a:spcPts val="1200"/>
              </a:spcAft>
            </a:pPr>
            <a:r>
              <a:rPr lang="en-US" dirty="0">
                <a:solidFill>
                  <a:srgbClr val="173449"/>
                </a:solidFill>
                <a:latin typeface="Arial" panose="020B0604020202020204" pitchFamily="34" charset="0"/>
              </a:rPr>
              <a:t>https://snies.mineducacion.gov.co/portal/ESTADISTICAS/Bases-consolidadas/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2FC5FD-D73E-4A9A-BFD2-696CA0FEE3FE}"/>
              </a:ext>
            </a:extLst>
          </p:cNvPr>
          <p:cNvSpPr txBox="1"/>
          <p:nvPr/>
        </p:nvSpPr>
        <p:spPr>
          <a:xfrm>
            <a:off x="479425" y="320657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Referencias</a:t>
            </a:r>
            <a:endParaRPr lang="es-CO" sz="36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BBC6F0E-D583-4550-954B-1282A2182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960" y="0"/>
            <a:ext cx="4724400" cy="166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56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0242B10-81FE-4BCF-AE5B-A4E7618B7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278" y="3362260"/>
            <a:ext cx="6285722" cy="221114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855DCCB-9FB1-47C8-B4EB-DB365A70C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87" y="368119"/>
            <a:ext cx="12192000" cy="409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49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575</Words>
  <Application>Microsoft Office PowerPoint</Application>
  <PresentationFormat>Panorámica</PresentationFormat>
  <Paragraphs>75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Jimmy</dc:creator>
  <cp:keywords/>
  <dc:description>generated using python-pptx</dc:description>
  <cp:lastModifiedBy>Jimmy</cp:lastModifiedBy>
  <cp:revision>17</cp:revision>
  <dcterms:created xsi:type="dcterms:W3CDTF">2013-01-27T09:14:16Z</dcterms:created>
  <dcterms:modified xsi:type="dcterms:W3CDTF">2026-10-08T03:37:19Z</dcterms:modified>
  <cp:category/>
</cp:coreProperties>
</file>